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00897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657600"/>
            <a:ext cx="4572000" cy="4572000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复平面单位圆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Plane &amp; The Unit Circle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3474720"/>
            <a:ext cx="2743200" cy="457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49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数学基础 · 欧拉公式 · 复分析入门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0" y="1828800"/>
            <a:ext cx="2560320" cy="2560320"/>
          </a:xfrm>
          <a:prstGeom prst="ellipse">
            <a:avLst/>
          </a:prstGeom>
          <a:solidFill>
            <a:srgbClr val="FFFFFF">
              <a:alpha val="30000"/>
            </a:srgbClr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66960" y="3108960"/>
            <a:ext cx="1097280" cy="-548640"/>
          </a:xfrm>
          <a:prstGeom prst="line">
            <a:avLst/>
          </a:prstGeom>
          <a:noFill/>
          <a:ln w="19050">
            <a:solidFill>
              <a:srgbClr val="FFB3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18520" y="2423160"/>
            <a:ext cx="109728" cy="109728"/>
          </a:xfrm>
          <a:prstGeom prst="ellipse">
            <a:avLst/>
          </a:prstGeom>
          <a:solidFill>
            <a:srgbClr val="FFB3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内容概览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个章节，从复数基础到单位圆的应用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复平面单位圆 · 数学基础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DDDD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7373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1691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复数基础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复数的定义、实部与虚部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55448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DDDDD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7373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897B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1691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复平面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1208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阿甘图、坐标表示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0" y="155448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DDDDD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66760" y="17373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897B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0" y="1691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单位圆定义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 = 1 的几何意义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297180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DDDDD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31546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897B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3108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极坐标表示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6304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模长与辐角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80560" y="297180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DDDDD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31546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897B"/>
          </a:solidFill>
          <a:ln/>
        </p:spPr>
      </p:sp>
      <p:sp>
        <p:nvSpPr>
          <p:cNvPr id="31" name="Text 29"/>
          <p:cNvSpPr/>
          <p:nvPr/>
        </p:nvSpPr>
        <p:spPr>
          <a:xfrm>
            <a:off x="46177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3108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欧拉公式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21208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e^{iθ} = cos θ + i sin θ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0" y="297180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DDDDD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66760" y="31546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897B"/>
          </a:solidFill>
          <a:ln/>
        </p:spPr>
      </p:sp>
      <p:sp>
        <p:nvSpPr>
          <p:cNvPr id="36" name="Text 34"/>
          <p:cNvSpPr/>
          <p:nvPr/>
        </p:nvSpPr>
        <p:spPr>
          <a:xfrm>
            <a:off x="83667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961120" y="3108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单位圆上的点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96112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θ + i sin θ 参数化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438912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DDDDD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68680" y="45720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463040" y="4526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旋转与乘法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46304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乘 e^{iθ} 即旋转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80560" y="438912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DDDDD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17720" y="45720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/>
        </p:spPr>
      </p:sp>
      <p:sp>
        <p:nvSpPr>
          <p:cNvPr id="46" name="Text 44"/>
          <p:cNvSpPr/>
          <p:nvPr/>
        </p:nvSpPr>
        <p:spPr>
          <a:xfrm>
            <a:off x="461772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212080" y="4526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辐角与周期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521208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2π 的旋转对称性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229600" y="438912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DDDDD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366760" y="45720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/>
        </p:spPr>
      </p:sp>
      <p:sp>
        <p:nvSpPr>
          <p:cNvPr id="51" name="Text 49"/>
          <p:cNvSpPr/>
          <p:nvPr/>
        </p:nvSpPr>
        <p:spPr>
          <a:xfrm>
            <a:off x="836676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961120" y="4526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特殊角度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96112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π/6, π/4, π/3, π/2, π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31520" y="580644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DDDDD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68680" y="59893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463040" y="5943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单位根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1463040" y="6355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z^n = 1 的 n 个解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480560" y="580644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DDDDD">
                <a:alpha val="2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17720" y="59893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/>
        </p:spPr>
      </p:sp>
      <p:sp>
        <p:nvSpPr>
          <p:cNvPr id="61" name="Text 59"/>
          <p:cNvSpPr/>
          <p:nvPr/>
        </p:nvSpPr>
        <p:spPr>
          <a:xfrm>
            <a:off x="4617720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5212080" y="5943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应用与联系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5212080" y="6355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傅里叶变换、量子力学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复数基础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从实数到复数的扩展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复平面单位圆 · 数学基础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554480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 = x + iy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26771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其中 x = Re(z) 为实部，y = Im(z) 为虚部，i² = −1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55448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共轭复数:  z̅ = x − iy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26771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对称于实轴，zz̅ = x² + y² = |z|²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45920" y="3337560"/>
            <a:ext cx="548640" cy="54864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(x₁+x₂) + i(y₁+y₂)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80560" y="3337560"/>
            <a:ext cx="548640" cy="54864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乘法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4023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(x₁x₂−y₁y₂) + i(x₁y₂+x₂y₁)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0" y="3337560"/>
            <a:ext cx="548640" cy="54864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模长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4023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 = √(x² + y²)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149840" y="3337560"/>
            <a:ext cx="548640" cy="54864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984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辐角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235440" y="4023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arg(z) = arctan(y/x)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" y="484632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937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历史小记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525780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复数概念最早由意大利数学家 Cardano (1545) 提及，后经 Euler、Gauss 等人完善。如今复分析是数学物理、工程、信号处理的核心工具。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复平面（阿甘图）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Argand Diagram — 复数的几何表示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复平面单位圆 · 数学基础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5486400" cy="0"/>
          </a:xfrm>
          <a:prstGeom prst="line">
            <a:avLst/>
          </a:prstGeom>
          <a:noFill/>
          <a:ln w="15240">
            <a:solidFill>
              <a:srgbClr val="2D34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914400"/>
            <a:ext cx="0" cy="5486400"/>
          </a:xfrm>
          <a:prstGeom prst="line">
            <a:avLst/>
          </a:prstGeom>
          <a:noFill/>
          <a:ln w="15240">
            <a:solidFill>
              <a:srgbClr val="2D34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3474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914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37307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63040" y="1645920"/>
            <a:ext cx="4023360" cy="4023360"/>
          </a:xfrm>
          <a:prstGeom prst="ellipse">
            <a:avLst/>
          </a:prstGeom>
          <a:solidFill>
            <a:srgbClr val="E8F5E9">
              <a:alpha val="30000"/>
            </a:srgbClr>
          </a:solidFill>
          <a:ln w="31750">
            <a:solidFill>
              <a:srgbClr val="0089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3657600"/>
            <a:ext cx="1005840" cy="-1742166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1842282"/>
            <a:ext cx="146304" cy="14630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68683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 = x + iy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77640" y="3657600"/>
            <a:ext cx="-689" cy="-26321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76951" y="3631279"/>
            <a:ext cx="-2066" cy="-26249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74885" y="3605031"/>
            <a:ext cx="-3437" cy="-26105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71448" y="3578926"/>
            <a:ext cx="-4798" cy="-25889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66650" y="3553037"/>
            <a:ext cx="-6147" cy="-25602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60503" y="3527435"/>
            <a:ext cx="-7478" cy="-25246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53025" y="3502189"/>
            <a:ext cx="-8789" cy="-2482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44236" y="3477370"/>
            <a:ext cx="-10076" cy="-24326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34160" y="3453044"/>
            <a:ext cx="-11335" cy="-23765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22825" y="3429279"/>
            <a:ext cx="-12564" cy="-23139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10261" y="3406140"/>
            <a:ext cx="-13757" cy="-2245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96504" y="3383690"/>
            <a:ext cx="-14913" cy="-21699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81591" y="3361991"/>
            <a:ext cx="-16029" cy="-20889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65562" y="3341102"/>
            <a:ext cx="-17100" cy="-20021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8462" y="3321081"/>
            <a:ext cx="-18124" cy="-19099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30338" y="3301982"/>
            <a:ext cx="-19099" cy="-18124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11239" y="3283858"/>
            <a:ext cx="-20021" cy="-1710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91218" y="3266758"/>
            <a:ext cx="-20889" cy="-16029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70329" y="3250729"/>
            <a:ext cx="-21699" cy="-14913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48630" y="3235816"/>
            <a:ext cx="-22450" cy="-13757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99583" y="3138221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480560" y="1915434"/>
            <a:ext cx="0" cy="1742166"/>
          </a:xfrm>
          <a:prstGeom prst="line">
            <a:avLst/>
          </a:prstGeom>
          <a:noFill/>
          <a:ln w="15240">
            <a:solidFill>
              <a:srgbClr val="00897B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480560" y="3657600"/>
            <a:ext cx="-1005840" cy="0"/>
          </a:xfrm>
          <a:prstGeom prst="line">
            <a:avLst/>
          </a:prstGeom>
          <a:noFill/>
          <a:ln w="15240">
            <a:solidFill>
              <a:srgbClr val="FFB30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526280" y="3703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θ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520440" y="191543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θ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83680" y="1463040"/>
            <a:ext cx="48463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坐标系统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58000" y="201168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横轴 (Re): 实数轴，表示复数的实部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纵轴 (Im): 虚数轴，表示复数的虚部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点 z = x + iy 对应坐标 (x, y)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原点 O 对应复数 0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到原点的距离 = 模长 |z|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583680" y="3657600"/>
            <a:ext cx="48463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0" y="3749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复数的两种视图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58000" y="416052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笛卡尔坐标: z = x + iy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极坐标:     z = r(cos θ + i sin θ)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两种表示等价，但极坐标在描述旋转时更自然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单位圆的定义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Circle — 复平面上模为 1 的点的集合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复平面单位圆 · 数学基础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1A237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6459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单位圆 = { z ∈ ℂ : |z| = 1 }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即所有满足 x² + y² = 1 的复数点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半径 r = 1，圆心在原点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1554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单位圆的重要性质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75120" y="2148840"/>
            <a:ext cx="128016" cy="128016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2057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对称性：关于实轴、虚轴和原点均对称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2606040"/>
            <a:ext cx="128016" cy="128016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2514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封闭性：单位圆上的点相乘仍在单位圆上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3063240"/>
            <a:ext cx="128016" cy="128016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2971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紧致性：有界闭集，是复平面上的紧集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3520440"/>
            <a:ext cx="128016" cy="128016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3429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连通的：单位圆是连通的闭合曲线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75120" y="3977640"/>
            <a:ext cx="128016" cy="128016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3886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群结构：构成 U(1) 李群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97280" y="4663440"/>
            <a:ext cx="3840480" cy="0"/>
          </a:xfrm>
          <a:prstGeom prst="line">
            <a:avLst/>
          </a:prstGeom>
          <a:noFill/>
          <a:ln w="15240">
            <a:solidFill>
              <a:srgbClr val="2D34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2743200"/>
            <a:ext cx="0" cy="3840480"/>
          </a:xfrm>
          <a:prstGeom prst="line">
            <a:avLst/>
          </a:prstGeom>
          <a:noFill/>
          <a:ln w="15240">
            <a:solidFill>
              <a:srgbClr val="2D34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4480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08960" y="2743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4736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28800" y="3474720"/>
            <a:ext cx="2377440" cy="2377440"/>
          </a:xfrm>
          <a:prstGeom prst="ellipse">
            <a:avLst/>
          </a:prstGeom>
          <a:solidFill>
            <a:srgbClr val="E8F5E9">
              <a:alpha val="30000"/>
            </a:srgbClr>
          </a:solidFill>
          <a:ln w="31750">
            <a:solidFill>
              <a:srgbClr val="00897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457200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ECB3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核心洞察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49377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单位圆上的复数纯粹由辐角 θ 决定——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它架起了复数乘法与几何旋转之间的桥梁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极坐标表示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Form — 模长与辐角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复平面单位圆 · 数学基础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554480"/>
            <a:ext cx="466344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 = r (cos θ + i sin θ)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368296"/>
            <a:ext cx="466344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|z| 为模长，θ = arg(z) 为辐角（弧度）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2120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554480"/>
            <a:ext cx="48463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单位圆上: z = cos θ + i sin 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368296"/>
            <a:ext cx="484632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因为 r = 1，复数的全部信息包含在 θ 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50292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极坐标 ↔ 笛卡尔坐标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8862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从极坐标到笛卡尔: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x = r cos θ    y = r sin θ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从笛卡尔到极坐标: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 = √(x² + y²)    θ = arctan(y/x)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4480560"/>
            <a:ext cx="4754880" cy="0"/>
          </a:xfrm>
          <a:prstGeom prst="line">
            <a:avLst/>
          </a:prstGeom>
          <a:noFill/>
          <a:ln w="15240">
            <a:solidFill>
              <a:srgbClr val="2D34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0" y="2103120"/>
            <a:ext cx="0" cy="4754880"/>
          </a:xfrm>
          <a:prstGeom prst="line">
            <a:avLst/>
          </a:prstGeom>
          <a:noFill/>
          <a:ln w="15240">
            <a:solidFill>
              <a:srgbClr val="2D34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0" y="42976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2103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45537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0" y="2834640"/>
            <a:ext cx="3291840" cy="3291840"/>
          </a:xfrm>
          <a:prstGeom prst="ellipse">
            <a:avLst/>
          </a:prstGeom>
          <a:solidFill>
            <a:srgbClr val="E8F5E9">
              <a:alpha val="30000"/>
            </a:srgbClr>
          </a:solidFill>
          <a:ln w="31750">
            <a:solidFill>
              <a:srgbClr val="00897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0" y="4480560"/>
            <a:ext cx="1163841" cy="-1163841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1809" y="3243567"/>
            <a:ext cx="146304" cy="14630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6" name="Text 24"/>
          <p:cNvSpPr/>
          <p:nvPr/>
        </p:nvSpPr>
        <p:spPr>
          <a:xfrm>
            <a:off x="10216401" y="3088119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72600" y="4480560"/>
            <a:ext cx="-317" cy="-16155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72283" y="4464405"/>
            <a:ext cx="-951" cy="-1613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71332" y="4448276"/>
            <a:ext cx="-1584" cy="-1608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69748" y="4432196"/>
            <a:ext cx="-2214" cy="-16005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67534" y="4416190"/>
            <a:ext cx="-2840" cy="-15906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64694" y="4400284"/>
            <a:ext cx="-3463" cy="-15782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61231" y="4384502"/>
            <a:ext cx="-4080" cy="-15634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57151" y="4368868"/>
            <a:ext cx="-4690" cy="-15462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52461" y="4353406"/>
            <a:ext cx="-5294" cy="-15266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47167" y="4338140"/>
            <a:ext cx="-5889" cy="-15046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41278" y="4323093"/>
            <a:ext cx="-6475" cy="-14804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34803" y="4308290"/>
            <a:ext cx="-7051" cy="-14538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27751" y="4293752"/>
            <a:ext cx="-7617" cy="-1425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20135" y="4279502"/>
            <a:ext cx="-8170" cy="-1394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11964" y="4265562"/>
            <a:ext cx="-8711" cy="-13608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03253" y="4251954"/>
            <a:ext cx="-9239" cy="-13256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94014" y="4238698"/>
            <a:ext cx="-9752" cy="-12883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84262" y="4225815"/>
            <a:ext cx="-10250" cy="-1249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74012" y="4213325"/>
            <a:ext cx="-10733" cy="-12078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63279" y="4201247"/>
            <a:ext cx="-11199" cy="-11647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01800" y="4104051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10124961" y="3316719"/>
            <a:ext cx="0" cy="1163841"/>
          </a:xfrm>
          <a:prstGeom prst="line">
            <a:avLst/>
          </a:prstGeom>
          <a:noFill/>
          <a:ln w="15240">
            <a:solidFill>
              <a:srgbClr val="00897B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0124961" y="4480560"/>
            <a:ext cx="-1163841" cy="0"/>
          </a:xfrm>
          <a:prstGeom prst="line">
            <a:avLst/>
          </a:prstGeom>
          <a:noFill/>
          <a:ln w="15240">
            <a:solidFill>
              <a:srgbClr val="FFB300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10170681" y="45262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θ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006840" y="3316719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θ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583680" y="4389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辐角 θ 从正实轴逆时针测量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00897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4114800" cy="4114800"/>
          </a:xfrm>
          <a:prstGeom prst="ellipse">
            <a:avLst/>
          </a:prstGeom>
          <a:solidFill>
            <a:srgbClr val="FFB30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复平面单位圆 · 数学基础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欧拉公式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数学中最优美的公式之一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e^{iθ} = cos θ + i sin θ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286000" y="3017520"/>
            <a:ext cx="758952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31089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 θ = π 时：欧拉恒等式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47472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e^{iπ} + 1 = 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这个公式将指数函数、三角函数和虚数单位优雅地联系在一起，被多次评为「数学中最优美的公式」，连接了 e、i、π、1、0 五个基本常数。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理解路径：泰勒展开 → eˣ = 1 + x + x²/2! + ... → 代入 x = iθ 分别得到 cos 和 sin 的展开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单位圆上的点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参数化表示 z = cos θ + i sin 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复平面单位圆 · 数学基础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554480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z(θ) = cos θ + i sin 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26771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∈ [0, 2π) 参数化整个单位圆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55448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z(θ) = e^{iθ} = cis(θ)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26771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cis(θ) = cos θ + i sin θ 的简写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572000"/>
            <a:ext cx="4389120" cy="0"/>
          </a:xfrm>
          <a:prstGeom prst="line">
            <a:avLst/>
          </a:prstGeom>
          <a:noFill/>
          <a:ln w="15240">
            <a:solidFill>
              <a:srgbClr val="2D34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2377440"/>
            <a:ext cx="0" cy="4389120"/>
          </a:xfrm>
          <a:prstGeom prst="line">
            <a:avLst/>
          </a:prstGeom>
          <a:noFill/>
          <a:ln w="15240">
            <a:solidFill>
              <a:srgbClr val="2D34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4389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2377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46451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54480" y="3108960"/>
            <a:ext cx="2926080" cy="2926080"/>
          </a:xfrm>
          <a:prstGeom prst="ellipse">
            <a:avLst/>
          </a:prstGeom>
          <a:solidFill>
            <a:srgbClr val="E8F5E9">
              <a:alpha val="30000"/>
            </a:srgbClr>
          </a:solidFill>
          <a:ln w="31750">
            <a:solidFill>
              <a:srgbClr val="00897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4572000"/>
            <a:ext cx="731520" cy="-126703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75888" y="3231818"/>
            <a:ext cx="146304" cy="14630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307637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e^{iθ}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4572000"/>
            <a:ext cx="-501" cy="-19142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2779" y="4552858"/>
            <a:ext cx="-1502" cy="-1909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1276" y="4533768"/>
            <a:ext cx="-2499" cy="-18985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78777" y="4514783"/>
            <a:ext cx="-3490" cy="-18828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75287" y="4495954"/>
            <a:ext cx="-4470" cy="-1862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70817" y="4477334"/>
            <a:ext cx="-5439" cy="-1836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65378" y="4458974"/>
            <a:ext cx="-6392" cy="-18051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58986" y="4440923"/>
            <a:ext cx="-7328" cy="-17691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51658" y="4423232"/>
            <a:ext cx="-8244" cy="-17284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43415" y="4405948"/>
            <a:ext cx="-9137" cy="-16828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4277" y="4389120"/>
            <a:ext cx="-10005" cy="-16327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24272" y="4372793"/>
            <a:ext cx="-10846" cy="-15781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3426" y="4357012"/>
            <a:ext cx="-11657" cy="-15192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01769" y="4341820"/>
            <a:ext cx="-12436" cy="-14561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89333" y="4327259"/>
            <a:ext cx="-13181" cy="-1389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76151" y="4313369"/>
            <a:ext cx="-13890" cy="-13181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62261" y="4300187"/>
            <a:ext cx="-14561" cy="-12436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47700" y="4287751"/>
            <a:ext cx="-15192" cy="-11657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32508" y="4276094"/>
            <a:ext cx="-15781" cy="-10846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16727" y="4265248"/>
            <a:ext cx="-16327" cy="-10005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61831" y="415686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749040" y="3304970"/>
            <a:ext cx="0" cy="1267030"/>
          </a:xfrm>
          <a:prstGeom prst="line">
            <a:avLst/>
          </a:prstGeom>
          <a:noFill/>
          <a:ln w="15240">
            <a:solidFill>
              <a:srgbClr val="00897B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749040" y="4572000"/>
            <a:ext cx="-731520" cy="0"/>
          </a:xfrm>
          <a:prstGeom prst="line">
            <a:avLst/>
          </a:prstGeom>
          <a:noFill/>
          <a:ln w="15240">
            <a:solidFill>
              <a:srgbClr val="FFB30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3794760" y="46177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θ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063240" y="330497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θ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00800" y="3383280"/>
            <a:ext cx="50292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7512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参数化性质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675120" y="38862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z(0) = 1（正实轴方向）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z(π/2) = i（正虚轴方向）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z(π) = −1（负实轴方向）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z(3π/2) = −i（负虚轴方向）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z(θ) 以 2π 为周期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θ 增加 → 逆时针运动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旋转与乘法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乘以 e^{iθ} 相当于旋转 θ 弧度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复平面单位圆 · 数学基础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554480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e^{iα} · e^{iβ} = e^{i(α+β)}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26771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指数相加，旋转叠加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55448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 · e^{iθ} → 旋转 z 逆时针 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26771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模长不变，辐角增加 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4572000"/>
            <a:ext cx="4206240" cy="0"/>
          </a:xfrm>
          <a:prstGeom prst="line">
            <a:avLst/>
          </a:prstGeom>
          <a:noFill/>
          <a:ln w="15240">
            <a:solidFill>
              <a:srgbClr val="2D34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468880"/>
            <a:ext cx="0" cy="4206240"/>
          </a:xfrm>
          <a:prstGeom prst="line">
            <a:avLst/>
          </a:prstGeom>
          <a:noFill/>
          <a:ln w="15240">
            <a:solidFill>
              <a:srgbClr val="2D34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4389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468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46451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3200400"/>
            <a:ext cx="2743200" cy="2743200"/>
          </a:xfrm>
          <a:prstGeom prst="ellipse">
            <a:avLst/>
          </a:prstGeom>
          <a:solidFill>
            <a:srgbClr val="E8F5E9">
              <a:alpha val="30000"/>
            </a:srgbClr>
          </a:solidFill>
          <a:ln w="31750">
            <a:solidFill>
              <a:srgbClr val="00897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4572000"/>
            <a:ext cx="1187840" cy="-68580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0688" y="3813048"/>
            <a:ext cx="146304" cy="14630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3" name="Text 21"/>
          <p:cNvSpPr/>
          <p:nvPr/>
        </p:nvSpPr>
        <p:spPr>
          <a:xfrm>
            <a:off x="3565280" y="3657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28900" y="4572000"/>
            <a:ext cx="-118" cy="-8976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782" y="4563024"/>
            <a:ext cx="-352" cy="-897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430" y="4554054"/>
            <a:ext cx="-587" cy="-8958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27843" y="4545096"/>
            <a:ext cx="-821" cy="-8939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27022" y="4536157"/>
            <a:ext cx="-1055" cy="-8915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25966" y="4527243"/>
            <a:ext cx="-1288" cy="-8884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24678" y="4518359"/>
            <a:ext cx="-1520" cy="-8847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23158" y="4509511"/>
            <a:ext cx="-1751" cy="-8804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21407" y="4500707"/>
            <a:ext cx="-1981" cy="-8755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19426" y="4491952"/>
            <a:ext cx="-2210" cy="-8701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17216" y="4483251"/>
            <a:ext cx="-2437" cy="-864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14779" y="4474611"/>
            <a:ext cx="-2662" cy="-8573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12117" y="4466038"/>
            <a:ext cx="-2886" cy="-850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09232" y="4457538"/>
            <a:ext cx="-3107" cy="-8422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06125" y="4449116"/>
            <a:ext cx="-3326" cy="-8338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2798" y="4440778"/>
            <a:ext cx="-3544" cy="-8248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99255" y="4432530"/>
            <a:ext cx="-3758" cy="-8152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95496" y="4424378"/>
            <a:ext cx="-3970" cy="-8051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91526" y="4416327"/>
            <a:ext cx="-4180" cy="-7944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87346" y="4408382"/>
            <a:ext cx="-4386" cy="-7832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52288" y="4299941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286000" y="4572000"/>
            <a:ext cx="354996" cy="-1324864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7844" y="3173984"/>
            <a:ext cx="146304" cy="146304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47" name="Text 45"/>
          <p:cNvSpPr/>
          <p:nvPr/>
        </p:nvSpPr>
        <p:spPr>
          <a:xfrm>
            <a:off x="2732436" y="301853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z·e^{iθ}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17920" y="3383280"/>
            <a:ext cx="52120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几何解释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400800" y="388620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乘以 e^{iθ} 是复平面上的纯旋转：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保持到原点的距离不变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将点绕原点旋转 θ 弧度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旋转矩阵视角：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[cos θ  −sin θ] [x]   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[sin θ   cos θ] [y]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这正是 2×2 旋转矩阵！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辐角与周期性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&amp; Periodicity — 2π 的旋转对称性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复平面单位圆 · 数学基础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554480"/>
            <a:ext cx="46634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e^{i(θ+2π)} = e^{iθ}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217420"/>
            <a:ext cx="4663440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单位圆上每旋转 2π 回到原点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554480"/>
            <a:ext cx="484632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arg(z₁z₂) = arg(z₁) + arg(z₂)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217420"/>
            <a:ext cx="4846320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乘积的辐角 = 辐角之和（模 2π）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50292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主辐角 Arg(z)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56616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辐角不是唯一的——加 2π 的整数倍仍为同一角度。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主辐角 Arg(z) ∈ (−π, π] 取标准值：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第一象限: Arg(z) ∈ (0, π/2)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第二象限: Arg(z) ∈ (π/2, π)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第三象限: Arg(z) ∈ (−π, −π/2)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第四象限: Arg(z) ∈ (−π/2, 0)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4114800"/>
            <a:ext cx="4754880" cy="0"/>
          </a:xfrm>
          <a:prstGeom prst="line">
            <a:avLst/>
          </a:prstGeom>
          <a:noFill/>
          <a:ln w="15240">
            <a:solidFill>
              <a:srgbClr val="2D34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1737360"/>
            <a:ext cx="0" cy="4754880"/>
          </a:xfrm>
          <a:prstGeom prst="line">
            <a:avLst/>
          </a:prstGeom>
          <a:noFill/>
          <a:ln w="15240">
            <a:solidFill>
              <a:srgbClr val="2D34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0" y="39319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35440" y="1737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0" y="4187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0" y="2468880"/>
            <a:ext cx="3291840" cy="3291840"/>
          </a:xfrm>
          <a:prstGeom prst="ellipse">
            <a:avLst/>
          </a:prstGeom>
          <a:solidFill>
            <a:srgbClr val="E8F5E9">
              <a:alpha val="30000"/>
            </a:srgbClr>
          </a:solidFill>
          <a:ln w="31750">
            <a:solidFill>
              <a:srgbClr val="00897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4114800"/>
            <a:ext cx="822960" cy="-1425409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93808" y="2616239"/>
            <a:ext cx="146304" cy="14630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0" y="2460791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e^{iθ}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555480" y="4114800"/>
            <a:ext cx="-564" cy="-21535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54916" y="4093265"/>
            <a:ext cx="-1690" cy="-21476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53226" y="4071789"/>
            <a:ext cx="-2812" cy="-21358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50414" y="4050430"/>
            <a:ext cx="-3926" cy="-21182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46488" y="4029248"/>
            <a:ext cx="-5029" cy="-20947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41459" y="4008301"/>
            <a:ext cx="-6118" cy="-20655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35341" y="3987646"/>
            <a:ext cx="-7191" cy="-20307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28150" y="3967339"/>
            <a:ext cx="-8244" cy="-19903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19906" y="3947436"/>
            <a:ext cx="-9274" cy="-19444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10631" y="3927992"/>
            <a:ext cx="-10279" cy="-18932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0352" y="3909060"/>
            <a:ext cx="-11256" cy="-18368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89096" y="3890692"/>
            <a:ext cx="-12202" cy="-17754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76894" y="3872938"/>
            <a:ext cx="-13114" cy="-17091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63780" y="3855847"/>
            <a:ext cx="-13991" cy="-16381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49789" y="3839466"/>
            <a:ext cx="-14829" cy="-15626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434960" y="3823840"/>
            <a:ext cx="-15626" cy="-14829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19334" y="3809011"/>
            <a:ext cx="-16381" cy="-13991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02953" y="3795020"/>
            <a:ext cx="-17091" cy="-13114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85862" y="3781906"/>
            <a:ext cx="-17754" cy="-12202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68108" y="3769704"/>
            <a:ext cx="-18368" cy="-11256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48495" y="3664915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583680" y="5669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与 θ + 2π 对应同一点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常见特殊角度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单位圆上的关键辐角及对应的复数值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复平面单位圆 · 数学基础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731520" cy="4572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54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63040" y="1554480"/>
            <a:ext cx="914400" cy="4572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1554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弧度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77440" y="1554480"/>
            <a:ext cx="914400" cy="4572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1554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1554480"/>
            <a:ext cx="2011680" cy="4572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0" y="1554480"/>
            <a:ext cx="914400" cy="4572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1554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554480"/>
            <a:ext cx="731520" cy="4572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554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2011680"/>
            <a:ext cx="731520" cy="457200"/>
          </a:xfrm>
          <a:prstGeom prst="rect">
            <a:avLst/>
          </a:prstGeom>
          <a:solidFill>
            <a:srgbClr val="F5F3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63040" y="2011680"/>
            <a:ext cx="914400" cy="457200"/>
          </a:xfrm>
          <a:prstGeom prst="rect">
            <a:avLst/>
          </a:prstGeom>
          <a:solidFill>
            <a:srgbClr val="F5F3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2011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77440" y="2011680"/>
            <a:ext cx="914400" cy="457200"/>
          </a:xfrm>
          <a:prstGeom prst="rect">
            <a:avLst/>
          </a:prstGeom>
          <a:solidFill>
            <a:srgbClr val="F5F3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2011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2011680"/>
            <a:ext cx="2011680" cy="457200"/>
          </a:xfrm>
          <a:prstGeom prst="rect">
            <a:avLst/>
          </a:prstGeom>
          <a:solidFill>
            <a:srgbClr val="F5F3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0" y="2011680"/>
            <a:ext cx="914400" cy="457200"/>
          </a:xfrm>
          <a:prstGeom prst="rect">
            <a:avLst/>
          </a:prstGeom>
          <a:solidFill>
            <a:srgbClr val="F5F3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2011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2011680"/>
            <a:ext cx="731520" cy="457200"/>
          </a:xfrm>
          <a:prstGeom prst="rect">
            <a:avLst/>
          </a:prstGeom>
          <a:solidFill>
            <a:srgbClr val="F5F3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2468880"/>
            <a:ext cx="731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2468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30°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463040" y="2468880"/>
            <a:ext cx="914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63040" y="2468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π/6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77440" y="2468880"/>
            <a:ext cx="914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77440" y="2468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√3/2 + i·½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91840" y="2468880"/>
            <a:ext cx="20116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√3/2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03520" y="2468880"/>
            <a:ext cx="914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0" y="2468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2468880"/>
            <a:ext cx="731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2468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31520" y="2926080"/>
            <a:ext cx="731520" cy="457200"/>
          </a:xfrm>
          <a:prstGeom prst="rect">
            <a:avLst/>
          </a:prstGeom>
          <a:solidFill>
            <a:srgbClr val="F5F3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2926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45°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463040" y="2926080"/>
            <a:ext cx="914400" cy="457200"/>
          </a:xfrm>
          <a:prstGeom prst="rect">
            <a:avLst/>
          </a:prstGeom>
          <a:solidFill>
            <a:srgbClr val="F5F3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63040" y="2926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π/4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377440" y="2926080"/>
            <a:ext cx="914400" cy="457200"/>
          </a:xfrm>
          <a:prstGeom prst="rect">
            <a:avLst/>
          </a:prstGeom>
          <a:solidFill>
            <a:srgbClr val="F5F3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0" y="2926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√2/2 + i·√2/2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291840" y="2926080"/>
            <a:ext cx="2011680" cy="457200"/>
          </a:xfrm>
          <a:prstGeom prst="rect">
            <a:avLst/>
          </a:prstGeom>
          <a:solidFill>
            <a:srgbClr val="F5F3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9184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√2/2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303520" y="2926080"/>
            <a:ext cx="914400" cy="457200"/>
          </a:xfrm>
          <a:prstGeom prst="rect">
            <a:avLst/>
          </a:prstGeom>
          <a:solidFill>
            <a:srgbClr val="F5F3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03520" y="2926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√2/2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217920" y="2926080"/>
            <a:ext cx="731520" cy="457200"/>
          </a:xfrm>
          <a:prstGeom prst="rect">
            <a:avLst/>
          </a:prstGeom>
          <a:solidFill>
            <a:srgbClr val="F5F3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0" y="2926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31520" y="3383280"/>
            <a:ext cx="731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60°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463040" y="3383280"/>
            <a:ext cx="914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463040" y="3383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π/3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377440" y="3383280"/>
            <a:ext cx="914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377440" y="3383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½ + i·√3/2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291840" y="3383280"/>
            <a:ext cx="20116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9184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303520" y="3383280"/>
            <a:ext cx="914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03520" y="3383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√3/2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217920" y="3383280"/>
            <a:ext cx="731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0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731520" y="3840480"/>
            <a:ext cx="731520" cy="457200"/>
          </a:xfrm>
          <a:prstGeom prst="rect">
            <a:avLst/>
          </a:prstGeom>
          <a:solidFill>
            <a:srgbClr val="F5F3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1520" y="3840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463040" y="3840480"/>
            <a:ext cx="914400" cy="457200"/>
          </a:xfrm>
          <a:prstGeom prst="rect">
            <a:avLst/>
          </a:prstGeom>
          <a:solidFill>
            <a:srgbClr val="F5F3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463040" y="3840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π/2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377440" y="3840480"/>
            <a:ext cx="914400" cy="457200"/>
          </a:xfrm>
          <a:prstGeom prst="rect">
            <a:avLst/>
          </a:prstGeom>
          <a:solidFill>
            <a:srgbClr val="F5F3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377440" y="3840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291840" y="3840480"/>
            <a:ext cx="2011680" cy="457200"/>
          </a:xfrm>
          <a:prstGeom prst="rect">
            <a:avLst/>
          </a:prstGeom>
          <a:solidFill>
            <a:srgbClr val="F5F3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9184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5303520" y="3840480"/>
            <a:ext cx="914400" cy="457200"/>
          </a:xfrm>
          <a:prstGeom prst="rect">
            <a:avLst/>
          </a:prstGeom>
          <a:solidFill>
            <a:srgbClr val="F5F3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03520" y="3840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217920" y="3840480"/>
            <a:ext cx="731520" cy="457200"/>
          </a:xfrm>
          <a:prstGeom prst="rect">
            <a:avLst/>
          </a:prstGeom>
          <a:solidFill>
            <a:srgbClr val="F5F3EE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7920" y="3840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731520" y="4297680"/>
            <a:ext cx="731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1520" y="4297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1463040" y="4297680"/>
            <a:ext cx="914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46304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2377440" y="4297680"/>
            <a:ext cx="914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37744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3291840" y="4297680"/>
            <a:ext cx="20116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291840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5303520" y="4297680"/>
            <a:ext cx="914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0352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6217920" y="4297680"/>
            <a:ext cx="731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17920" y="4297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4572000" y="4389120"/>
            <a:ext cx="5120640" cy="0"/>
          </a:xfrm>
          <a:prstGeom prst="line">
            <a:avLst/>
          </a:prstGeom>
          <a:noFill/>
          <a:ln w="15240">
            <a:solidFill>
              <a:srgbClr val="2D343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132320" y="1828800"/>
            <a:ext cx="0" cy="5120640"/>
          </a:xfrm>
          <a:prstGeom prst="line">
            <a:avLst/>
          </a:prstGeom>
          <a:noFill/>
          <a:ln w="15240">
            <a:solidFill>
              <a:srgbClr val="2D343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509760" y="4206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7223760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6858000" y="44622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5303520" y="2560320"/>
            <a:ext cx="3657600" cy="3657600"/>
          </a:xfrm>
          <a:prstGeom prst="ellipse">
            <a:avLst/>
          </a:prstGeom>
          <a:solidFill>
            <a:srgbClr val="E8F5E9">
              <a:alpha val="30000"/>
            </a:srgbClr>
          </a:solidFill>
          <a:ln w="31750">
            <a:solidFill>
              <a:srgbClr val="00897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906256" y="4334256"/>
            <a:ext cx="109728" cy="109728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00" name="Text 98"/>
          <p:cNvSpPr/>
          <p:nvPr/>
        </p:nvSpPr>
        <p:spPr>
          <a:xfrm>
            <a:off x="9070848" y="4251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8661243" y="3419856"/>
            <a:ext cx="109728" cy="109728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02" name="Text 100"/>
          <p:cNvSpPr/>
          <p:nvPr/>
        </p:nvSpPr>
        <p:spPr>
          <a:xfrm>
            <a:off x="8825835" y="33375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π/6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8370613" y="3041099"/>
            <a:ext cx="109728" cy="109728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04" name="Text 102"/>
          <p:cNvSpPr/>
          <p:nvPr/>
        </p:nvSpPr>
        <p:spPr>
          <a:xfrm>
            <a:off x="8535205" y="295880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π/4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7991856" y="2750469"/>
            <a:ext cx="109728" cy="109728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06" name="Text 104"/>
          <p:cNvSpPr/>
          <p:nvPr/>
        </p:nvSpPr>
        <p:spPr>
          <a:xfrm>
            <a:off x="8156448" y="266817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π/3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7077456" y="2505456"/>
            <a:ext cx="109728" cy="109728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08" name="Text 106"/>
          <p:cNvSpPr/>
          <p:nvPr/>
        </p:nvSpPr>
        <p:spPr>
          <a:xfrm>
            <a:off x="6675120" y="2423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5248656" y="4334256"/>
            <a:ext cx="109728" cy="109728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10" name="Text 108"/>
          <p:cNvSpPr/>
          <p:nvPr/>
        </p:nvSpPr>
        <p:spPr>
          <a:xfrm>
            <a:off x="4846320" y="4251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7077456" y="6163056"/>
            <a:ext cx="109728" cy="109728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12" name="Text 110"/>
          <p:cNvSpPr/>
          <p:nvPr/>
        </p:nvSpPr>
        <p:spPr>
          <a:xfrm>
            <a:off x="6675120" y="6080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单位根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 of Unity — zⁿ = 1 的 n 个复数解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复平面单位圆 · 数学基础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554480"/>
            <a:ext cx="46634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zⁿ = 1 的解:  e^{2πik/n},  k = 0,1,…,n−1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217420"/>
            <a:ext cx="4663440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个解均匀分布在单位圆上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554480"/>
            <a:ext cx="484632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ζₙ = e^{2πi/n}（原根）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217420"/>
            <a:ext cx="4846320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所有单位根 = {ζₙᵏ : k = 0,1,...,n−1}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383280"/>
            <a:ext cx="2377440" cy="2377440"/>
          </a:xfrm>
          <a:prstGeom prst="ellipse">
            <a:avLst/>
          </a:prstGeom>
          <a:solidFill>
            <a:srgbClr val="E8F5E9">
              <a:alpha val="20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572000"/>
            <a:ext cx="2926080" cy="0"/>
          </a:xfrm>
          <a:prstGeom prst="line">
            <a:avLst/>
          </a:prstGeom>
          <a:noFill/>
          <a:ln w="7620">
            <a:solidFill>
              <a:srgbClr val="2D34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3108960"/>
            <a:ext cx="0" cy="2926080"/>
          </a:xfrm>
          <a:prstGeom prst="line">
            <a:avLst/>
          </a:prstGeom>
          <a:noFill/>
          <a:ln w="7620">
            <a:solidFill>
              <a:srgbClr val="2D34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4572000"/>
            <a:ext cx="1188720" cy="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36392" y="4507992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0" name="Shape 18"/>
          <p:cNvSpPr/>
          <p:nvPr/>
        </p:nvSpPr>
        <p:spPr>
          <a:xfrm>
            <a:off x="2011680" y="4572000"/>
            <a:ext cx="-594360" cy="-1029462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53312" y="3478530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0" y="4572000"/>
            <a:ext cx="-594360" cy="1029462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53312" y="5537454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4" name="Text 22"/>
          <p:cNvSpPr/>
          <p:nvPr/>
        </p:nvSpPr>
        <p:spPr>
          <a:xfrm>
            <a:off x="1737360" y="5852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=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0" y="3383280"/>
            <a:ext cx="2377440" cy="2377440"/>
          </a:xfrm>
          <a:prstGeom prst="ellipse">
            <a:avLst/>
          </a:prstGeom>
          <a:solidFill>
            <a:srgbClr val="E8F5E9">
              <a:alpha val="20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6160" y="4572000"/>
            <a:ext cx="2926080" cy="0"/>
          </a:xfrm>
          <a:prstGeom prst="line">
            <a:avLst/>
          </a:prstGeom>
          <a:noFill/>
          <a:ln w="7620">
            <a:solidFill>
              <a:srgbClr val="2D34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3108960"/>
            <a:ext cx="0" cy="2926080"/>
          </a:xfrm>
          <a:prstGeom prst="line">
            <a:avLst/>
          </a:prstGeom>
          <a:noFill/>
          <a:ln w="7620">
            <a:solidFill>
              <a:srgbClr val="2D34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4572000"/>
            <a:ext cx="1188720" cy="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53912" y="4507992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0" y="4572000"/>
            <a:ext cx="0" cy="-118872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65192" y="3319272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9200" y="4572000"/>
            <a:ext cx="-1188720" cy="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76472" y="4507992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0" y="4572000"/>
            <a:ext cx="0" cy="118872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65192" y="5696712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5852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= 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0" y="3383280"/>
            <a:ext cx="2377440" cy="2377440"/>
          </a:xfrm>
          <a:prstGeom prst="ellipse">
            <a:avLst/>
          </a:prstGeom>
          <a:solidFill>
            <a:srgbClr val="E8F5E9">
              <a:alpha val="20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0" y="4572000"/>
            <a:ext cx="2926080" cy="0"/>
          </a:xfrm>
          <a:prstGeom prst="line">
            <a:avLst/>
          </a:prstGeom>
          <a:noFill/>
          <a:ln w="7620">
            <a:solidFill>
              <a:srgbClr val="2D343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46720" y="3108960"/>
            <a:ext cx="0" cy="2926080"/>
          </a:xfrm>
          <a:prstGeom prst="line">
            <a:avLst/>
          </a:prstGeom>
          <a:noFill/>
          <a:ln w="7620">
            <a:solidFill>
              <a:srgbClr val="2D343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46720" y="4572000"/>
            <a:ext cx="1188720" cy="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71432" y="4507992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42" name="Shape 40"/>
          <p:cNvSpPr/>
          <p:nvPr/>
        </p:nvSpPr>
        <p:spPr>
          <a:xfrm>
            <a:off x="8046720" y="4572000"/>
            <a:ext cx="367335" cy="-113054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50047" y="3377452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44" name="Shape 42"/>
          <p:cNvSpPr/>
          <p:nvPr/>
        </p:nvSpPr>
        <p:spPr>
          <a:xfrm>
            <a:off x="8046720" y="4572000"/>
            <a:ext cx="-961695" cy="-698712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21017" y="3809280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46" name="Shape 44"/>
          <p:cNvSpPr/>
          <p:nvPr/>
        </p:nvSpPr>
        <p:spPr>
          <a:xfrm>
            <a:off x="8046720" y="4572000"/>
            <a:ext cx="-961695" cy="698712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21017" y="5206704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48" name="Shape 46"/>
          <p:cNvSpPr/>
          <p:nvPr/>
        </p:nvSpPr>
        <p:spPr>
          <a:xfrm>
            <a:off x="8046720" y="4572000"/>
            <a:ext cx="367335" cy="113054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50047" y="5638532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50" name="Text 48"/>
          <p:cNvSpPr/>
          <p:nvPr/>
        </p:nvSpPr>
        <p:spPr>
          <a:xfrm>
            <a:off x="7772400" y="5852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= 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509760" y="3566160"/>
            <a:ext cx="2011680" cy="2011680"/>
          </a:xfrm>
          <a:prstGeom prst="ellipse">
            <a:avLst/>
          </a:prstGeom>
          <a:solidFill>
            <a:srgbClr val="E8F5E9">
              <a:alpha val="20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35440" y="4572000"/>
            <a:ext cx="2560320" cy="0"/>
          </a:xfrm>
          <a:prstGeom prst="line">
            <a:avLst/>
          </a:prstGeom>
          <a:noFill/>
          <a:ln w="7620">
            <a:solidFill>
              <a:srgbClr val="2D343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15600" y="3291840"/>
            <a:ext cx="0" cy="2560320"/>
          </a:xfrm>
          <a:prstGeom prst="line">
            <a:avLst/>
          </a:prstGeom>
          <a:noFill/>
          <a:ln w="7620">
            <a:solidFill>
              <a:srgbClr val="2D343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515600" y="4572000"/>
            <a:ext cx="1005840" cy="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457432" y="4507992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56" name="Shape 54"/>
          <p:cNvSpPr/>
          <p:nvPr/>
        </p:nvSpPr>
        <p:spPr>
          <a:xfrm>
            <a:off x="10515600" y="4572000"/>
            <a:ext cx="502920" cy="-871083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954512" y="3636909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58" name="Shape 56"/>
          <p:cNvSpPr/>
          <p:nvPr/>
        </p:nvSpPr>
        <p:spPr>
          <a:xfrm>
            <a:off x="10515600" y="4572000"/>
            <a:ext cx="-502920" cy="-871083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948672" y="3636909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60" name="Shape 58"/>
          <p:cNvSpPr/>
          <p:nvPr/>
        </p:nvSpPr>
        <p:spPr>
          <a:xfrm>
            <a:off x="10515600" y="4572000"/>
            <a:ext cx="-1005840" cy="0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445752" y="4507992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62" name="Shape 60"/>
          <p:cNvSpPr/>
          <p:nvPr/>
        </p:nvSpPr>
        <p:spPr>
          <a:xfrm>
            <a:off x="10515600" y="4572000"/>
            <a:ext cx="-502920" cy="871083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948672" y="5379075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64" name="Shape 62"/>
          <p:cNvSpPr/>
          <p:nvPr/>
        </p:nvSpPr>
        <p:spPr>
          <a:xfrm>
            <a:off x="10515600" y="4572000"/>
            <a:ext cx="502920" cy="871083"/>
          </a:xfrm>
          <a:prstGeom prst="line">
            <a:avLst/>
          </a:prstGeom>
          <a:noFill/>
          <a:ln w="15240">
            <a:solidFill>
              <a:srgbClr val="FFB3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954512" y="5379075"/>
            <a:ext cx="128016" cy="12801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66" name="Text 64"/>
          <p:cNvSpPr/>
          <p:nvPr/>
        </p:nvSpPr>
        <p:spPr>
          <a:xfrm>
            <a:off x="10241280" y="5669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= 6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31520" y="3200400"/>
            <a:ext cx="106984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05840" y="32918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单位根构成循环群 ℤₙ（阿贝尔群），在傅里叶变换 (FFT/NTT) 和编码理论中扮演核心角色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897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FFB30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10789920" y="6492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复平面单位圆 · 数学基础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总结与联系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Circle: 一个概念，多个领域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8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1783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C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三角函数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θ, sin θ 的几何定义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64592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8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20640" y="1783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C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傅里叶变换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2064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利用单位根分解信号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164592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8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⚛️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869680" y="1783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C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量子力学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6968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U(1) 相位变换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01752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8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3154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C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电路分析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交流电的相量表示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301752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8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🎵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120640" y="3154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C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信号处理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2064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数字滤波器和频谱分析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301752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8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869680" y="3154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C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分形几何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86968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 集与 Mandelbrot 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0" y="4846320"/>
            <a:ext cx="6675120" cy="2743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4" name="Text 32"/>
          <p:cNvSpPr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2DF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「复平面单位圆——连接几何、代数与分析的最美桥梁」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2026-07-16T08:36:08Z</dcterms:created>
  <dcterms:modified xsi:type="dcterms:W3CDTF">2026-07-16T08:36:08Z</dcterms:modified>
</cp:coreProperties>
</file>