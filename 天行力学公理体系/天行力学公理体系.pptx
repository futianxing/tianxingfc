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天行力学的公理体系</a:t>
            </a:r>
            <a:endParaRPr sz="16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一公理二定理的
精简地基</a:t>
            </a:r>
            <a:endParaRPr sz="3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ABBCC"/>
                </a:solidFill>
                <a:latin typeface="Calibri" panose="020F0502020204030204"/>
                <a:ea typeface="微软雅黑" panose="020B0503020204020204" charset="-122"/>
              </a:rPr>
              <a:t>心物波粒二象 → 时空二象性定理 → 物理标度定理</a:t>
            </a:r>
            <a:endParaRPr sz="1400" b="0" i="0">
              <a:solidFill>
                <a:srgbClr val="AABBCC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AB0"/>
                </a:solidFill>
                <a:latin typeface="Calibri" panose="020F0502020204030204"/>
                <a:ea typeface="微软雅黑" panose="020B0503020204020204" charset="-122"/>
              </a:rPr>
              <a:t>傅天行  ·  2026.07.05  ·  版本 1.0</a:t>
            </a:r>
            <a:endParaRPr sz="1300" b="0" i="0">
              <a:solidFill>
                <a:srgbClr val="8A9AB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目录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2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01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引言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物理学的公理传统与精简目标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02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心物波粒二象公理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039112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最高本原 · 五重法则 · 元相子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331720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23160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03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定理一：时空二象性定理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2679191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时空的四重结构 · 最小作用量子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39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04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06323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定理二：物理标度定理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3319272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h, c, G 的独立公设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4400" y="3611879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03320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05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公理体系完整结构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959352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一公理二定理的层级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4251959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06</a:t>
            </a:r>
            <a:endParaRPr sz="16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结论</a:t>
            </a:r>
            <a:endParaRPr sz="1500" b="1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4599432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理论意义与展望</a:t>
            </a:r>
            <a:endParaRPr sz="12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4892040"/>
            <a:ext cx="5943600" cy="7315"/>
          </a:xfrm>
          <a:prstGeom prst="rect">
            <a:avLst/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01  引言</a:t>
            </a:r>
            <a:endParaRPr sz="30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物理学的公理传统</a:t>
            </a:r>
            <a:endParaRPr sz="16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3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01 引言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物理学的公理传统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4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牛顿力学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三大定律 + 万有引力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27432" cy="502920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拉格朗日·哈密顿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最小作用量原理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240280"/>
            <a:ext cx="27432" cy="502920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狭义相对论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光速不变 + 相对性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017520"/>
            <a:ext cx="27432" cy="502920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61187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20439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广义相对论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5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等效原理 + 广义协变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3794759"/>
            <a:ext cx="27432" cy="502920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天行力学</a:t>
            </a:r>
            <a:endParaRPr sz="14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一公理二定理</a:t>
            </a:r>
            <a:endParaRPr sz="12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4572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精简至极致：</a:t>
            </a:r>
            <a:r>
              <a:rPr sz="12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一条公理、两条定理</a:t>
            </a:r>
            <a:endParaRPr sz="12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1143000"/>
            <a:ext cx="3200400" cy="640080"/>
          </a:xfrm>
          <a:prstGeom prst="roundRect">
            <a:avLst>
              <a:gd name="adj" fmla="val 11428"/>
            </a:avLst>
          </a:prstGeom>
          <a:solidFill>
            <a:srgbClr val="F8F3EC"/>
          </a:solidFill>
          <a:ln w="1270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1188720"/>
            <a:ext cx="292608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核心问题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57800" y="1399032"/>
            <a:ext cx="29260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理论的地基究竟可以精简到何种程度？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20640" y="1965960"/>
            <a:ext cx="3200400" cy="640080"/>
          </a:xfrm>
          <a:prstGeom prst="roundRect">
            <a:avLst>
              <a:gd name="adj" fmla="val 11428"/>
            </a:avLst>
          </a:prstGeom>
          <a:solidFill>
            <a:srgbClr val="E7EFF7"/>
          </a:solidFill>
          <a:ln w="127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2011679"/>
            <a:ext cx="292608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衡量标准</a:t>
            </a:r>
            <a:endParaRPr sz="11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57800" y="2221991"/>
            <a:ext cx="29260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概念经济性 + 逻辑严密性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120640" y="2788920"/>
            <a:ext cx="3200400" cy="640080"/>
          </a:xfrm>
          <a:prstGeom prst="roundRect">
            <a:avLst>
              <a:gd name="adj" fmla="val 11428"/>
            </a:avLst>
          </a:prstGeom>
          <a:solidFill>
            <a:srgbClr val="F8F3EC"/>
          </a:solidFill>
          <a:ln w="1270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2834639"/>
            <a:ext cx="292608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天行力学的回答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57800" y="3044952"/>
            <a:ext cx="29260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将此前被视为独立公设的命题
在更底层的基础上推导出来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一公理二定理</a:t>
            </a:r>
            <a:endParaRPr sz="30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天行力学公理体系的总览</a:t>
            </a:r>
            <a:endParaRPr sz="16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5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核心架构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一公理二定理：公理体系的层级结构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6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51760" y="11430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188719"/>
            <a:ext cx="3657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▌公理</a:t>
            </a:r>
            <a:endParaRPr sz="13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心物波粒二象及其五重法则</a:t>
            </a:r>
            <a:endParaRPr sz="18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4480560" y="1874519"/>
            <a:ext cx="0" cy="228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2103120"/>
            <a:ext cx="4572000" cy="640080"/>
          </a:xfrm>
          <a:prstGeom prst="roundRect">
            <a:avLst>
              <a:gd name="adj" fmla="val 11428"/>
            </a:avLst>
          </a:prstGeom>
          <a:solidFill>
            <a:srgbClr val="E7EFF7"/>
          </a:solidFill>
          <a:ln w="127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148839"/>
            <a:ext cx="4572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▌具体承载者：元相子（Onphasor）</a:t>
            </a:r>
            <a:endParaRPr sz="14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物侧：复平面动态单位圆  |  心侧：自主调谐能动性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749040" y="2743200"/>
            <a:ext cx="0" cy="228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212080" y="2743200"/>
            <a:ext cx="0" cy="2286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97180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3108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定理一</a:t>
            </a:r>
            <a:endParaRPr sz="13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3108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时空二象性定理</a:t>
            </a:r>
            <a:endParaRPr sz="15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数学时间 · 数学空间 · 物理时间 · 物理空间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最小作用量子的存在性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94960" y="297180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063240"/>
            <a:ext cx="3108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定理二</a:t>
            </a:r>
            <a:endParaRPr sz="13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7840" y="3337560"/>
            <a:ext cx="3108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物理标度定理</a:t>
            </a:r>
            <a:endParaRPr sz="15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7840" y="365760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h  作用量标度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c  时空投影比率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G  时空生成刚度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4526279"/>
            <a:ext cx="8412480" cy="10972"/>
          </a:xfrm>
          <a:prstGeom prst="rect">
            <a:avLst/>
          </a:prstGeom>
          <a:solidFill>
            <a:srgbClr val="7F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F8C9A"/>
                </a:solidFill>
                <a:latin typeface="Calibri" panose="020F0502020204030204"/>
                <a:ea typeface="微软雅黑" panose="020B0503020204020204" charset="-122"/>
              </a:rPr>
              <a:t>一个公理 + 两个定理  整个天行力学的理论大厦</a:t>
            </a:r>
            <a:endParaRPr sz="13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02  心物波粒二象公理</a:t>
            </a:r>
            <a:endParaRPr sz="30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最高公理 · 五重法则 · 元相子</a:t>
            </a:r>
            <a:endParaRPr sz="16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7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02 最高公理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心物波粒二象公理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8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4114800" cy="1554480"/>
          </a:xfrm>
          <a:prstGeom prst="roundRect">
            <a:avLst>
              <a:gd name="adj" fmla="val 4705"/>
            </a:avLst>
          </a:prstGeom>
          <a:solidFill>
            <a:srgbClr val="F1F2F4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39"/>
            <a:ext cx="3749039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公理核心</a:t>
            </a:r>
            <a:endParaRPr sz="12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63039"/>
            <a:ext cx="3749039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存在者必以波粒两种方式共同演化和显现。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波为阳动，为连续，为关系，为普遍；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粒为阴静，为离散，为个体，为特殊。</a:t>
            </a:r>
            <a:endParaRPr sz="12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任何存在者必定是心与物的统一体，二者从未分离。</a:t>
            </a:r>
            <a:endParaRPr sz="12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2880360"/>
            <a:ext cx="4114800" cy="502920"/>
          </a:xfrm>
          <a:prstGeom prst="roundRect">
            <a:avLst>
              <a:gd name="adj" fmla="val 9090"/>
            </a:avLst>
          </a:prstGeom>
          <a:solidFill>
            <a:srgbClr val="F9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79"/>
            <a:ext cx="4572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心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79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自主进行方向校准与整合的纯粹能动性，无法被数学形式化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3474720"/>
            <a:ext cx="4114800" cy="502920"/>
          </a:xfrm>
          <a:prstGeom prst="roundRect">
            <a:avLst>
              <a:gd name="adj" fmla="val 909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0439"/>
            <a:ext cx="4572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物</a:t>
            </a:r>
            <a:endParaRPr sz="11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39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被动但可动态演化的结构，本质就是结构性的数学实在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1143000"/>
            <a:ext cx="3200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9E62"/>
                </a:solidFill>
                <a:latin typeface="Georgia" panose="02040502050405020303"/>
                <a:ea typeface="微软雅黑" panose="020B0503020204020204" charset="-122"/>
              </a:rPr>
              <a:t>五重法则</a:t>
            </a:r>
            <a:endParaRPr sz="1400" b="1" i="0">
              <a:solidFill>
                <a:srgbClr val="C99E62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20640" y="1417319"/>
            <a:ext cx="1371600" cy="18288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1554480"/>
            <a:ext cx="3200400" cy="502920"/>
          </a:xfrm>
          <a:prstGeom prst="roundRect">
            <a:avLst>
              <a:gd name="adj" fmla="val 9090"/>
            </a:avLst>
          </a:prstGeom>
          <a:solidFill>
            <a:srgbClr val="EFF4F9"/>
          </a:solidFill>
          <a:ln w="1016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600200"/>
            <a:ext cx="11887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1. 波粒互斥</a:t>
            </a:r>
            <a:endParaRPr sz="11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1810385"/>
            <a:ext cx="2879725" cy="2222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连续与离散的根本区分，不可彼此还原</a:t>
            </a:r>
            <a:endParaRPr sz="10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20640" y="2148840"/>
            <a:ext cx="3200400" cy="502920"/>
          </a:xfrm>
          <a:prstGeom prst="roundRect">
            <a:avLst>
              <a:gd name="adj" fmla="val 9090"/>
            </a:avLst>
          </a:prstGeom>
          <a:solidFill>
            <a:srgbClr val="EAF7F9"/>
          </a:solidFill>
          <a:ln w="10160">
            <a:solidFill>
              <a:srgbClr val="009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194560"/>
            <a:ext cx="11887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9FBD"/>
                </a:solidFill>
                <a:latin typeface="Calibri" panose="020F0502020204030204"/>
                <a:ea typeface="微软雅黑" panose="020B0503020204020204" charset="-122"/>
              </a:rPr>
              <a:t>2. 波粒互补</a:t>
            </a:r>
            <a:endParaRPr sz="1100" b="1" i="0">
              <a:solidFill>
                <a:srgbClr val="009F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80" y="2404872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同一实体的两个不可分割侧面</a:t>
            </a:r>
            <a:endParaRPr sz="10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20640" y="2743200"/>
            <a:ext cx="3200400" cy="502920"/>
          </a:xfrm>
          <a:prstGeom prst="roundRect">
            <a:avLst>
              <a:gd name="adj" fmla="val 9090"/>
            </a:avLst>
          </a:prstGeom>
          <a:solidFill>
            <a:srgbClr val="FAF7F2"/>
          </a:solidFill>
          <a:ln w="1016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2788920"/>
            <a:ext cx="11887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3. 波主粒从</a:t>
            </a:r>
            <a:endParaRPr sz="11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2080" y="2999232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波驱动演化，粒承载持存</a:t>
            </a:r>
            <a:endParaRPr sz="10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3337560"/>
            <a:ext cx="3200400" cy="502920"/>
          </a:xfrm>
          <a:prstGeom prst="roundRect">
            <a:avLst>
              <a:gd name="adj" fmla="val 9090"/>
            </a:avLst>
          </a:prstGeom>
          <a:solidFill>
            <a:srgbClr val="F3F6F7"/>
          </a:solidFill>
          <a:ln w="10160">
            <a:solidFill>
              <a:srgbClr val="6E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3383280"/>
            <a:ext cx="11887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E90A6"/>
                </a:solidFill>
                <a:latin typeface="Calibri" panose="020F0502020204030204"/>
                <a:ea typeface="微软雅黑" panose="020B0503020204020204" charset="-122"/>
              </a:rPr>
              <a:t>4. 波粒互根</a:t>
            </a:r>
            <a:endParaRPr sz="1100" b="1" i="0">
              <a:solidFill>
                <a:srgbClr val="6E90A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12080" y="3593592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彼此以对方为存在条件</a:t>
            </a:r>
            <a:endParaRPr sz="10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20640" y="3931920"/>
            <a:ext cx="3200400" cy="502920"/>
          </a:xfrm>
          <a:prstGeom prst="roundRect">
            <a:avLst>
              <a:gd name="adj" fmla="val 9090"/>
            </a:avLst>
          </a:prstGeom>
          <a:solidFill>
            <a:srgbClr val="F3F0F6"/>
          </a:solidFill>
          <a:ln w="1016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3977639"/>
            <a:ext cx="11887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A4C93"/>
                </a:solidFill>
                <a:latin typeface="Calibri" panose="020F0502020204030204"/>
                <a:ea typeface="微软雅黑" panose="020B0503020204020204" charset="-122"/>
              </a:rPr>
              <a:t>5. 波粒互化</a:t>
            </a:r>
            <a:endParaRPr sz="1100" b="1" i="0">
              <a:solidFill>
                <a:srgbClr val="6A4C93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2080" y="4187952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一定条件下相互转化</a:t>
            </a:r>
            <a:endParaRPr sz="10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02 公理的具体承载者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元相子（Onphasor）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9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9F5EF"/>
          </a:solidFill>
          <a:ln w="1270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19"/>
            <a:ext cx="8046719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定义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99031"/>
            <a:ext cx="8046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元相子是心物波粒二象在实在层面的第一个、也是最完美的具体承载者。它是心物合一的波粒耦合体。</a:t>
            </a:r>
            <a:endParaRPr sz="1300" b="0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2331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749039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物侧  数学实体</a:t>
            </a:r>
            <a:endParaRPr sz="13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828800" cy="13716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749039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复平面动态单位圆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半径 R = h（不可分的普朗克标度）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相位以角频率 w 连续旋转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波性：虚轴相位推进  |  粒性：实轴半径承载</a:t>
            </a:r>
            <a:endParaRPr sz="12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20640" y="23317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329184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心侧  纯粹能动性</a:t>
            </a:r>
            <a:endParaRPr sz="13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2651760"/>
            <a:ext cx="1828800" cy="1371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3291840" cy="858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自主进行相位校准与调谐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即天行力本身</a:t>
            </a:r>
            <a:endParaRPr sz="12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无法被几何化</a:t>
            </a:r>
            <a:endParaRPr sz="1100" b="0" i="0">
              <a:solidFill>
                <a:srgbClr val="7F8C9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5760" y="3977639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13716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名称释义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79"/>
            <a:ext cx="77724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元 = 根本原始  ·  相 = 相位旋转（审视/相互）  ·  子 = 基本粒子（小而圆）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03  定理一：时空二象性定理</a:t>
            </a:r>
            <a:endParaRPr sz="30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时空的四重结构 · 最小作用量子</a:t>
            </a:r>
            <a:endParaRPr sz="16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10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03 定理一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时空二象性定理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11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468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(i) 数学时间</a:t>
            </a:r>
            <a:endParaRPr sz="13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371600" cy="13716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4688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相位连续推进的绵延维度，连续的、可逆的、无始无终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9184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9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34440"/>
            <a:ext cx="2468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9FBD"/>
                </a:solidFill>
                <a:latin typeface="Calibri" panose="020F0502020204030204"/>
                <a:ea typeface="微软雅黑" panose="020B0503020204020204" charset="-122"/>
              </a:rPr>
              <a:t>(ii) 数学空间</a:t>
            </a:r>
            <a:endParaRPr sz="1300" b="1" i="0">
              <a:solidFill>
                <a:srgbClr val="009F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1371600" cy="13716"/>
          </a:xfrm>
          <a:prstGeom prst="rect">
            <a:avLst/>
          </a:prstGeom>
          <a:solidFill>
            <a:srgbClr val="009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00200"/>
            <a:ext cx="24688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复平面实轴与虚轴张成的二维连续统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2468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(iii) 物理时间</a:t>
            </a:r>
            <a:endParaRPr sz="13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0" y="1508760"/>
            <a:ext cx="1371600" cy="1371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4688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自耦合临界事件编序，离散的、不可逆的、定向的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" y="28803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E9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2468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E90A6"/>
                </a:solidFill>
                <a:latin typeface="Calibri" panose="020F0502020204030204"/>
                <a:ea typeface="微软雅黑" panose="020B0503020204020204" charset="-122"/>
              </a:rPr>
              <a:t>(iv) 物理空间</a:t>
            </a:r>
            <a:endParaRPr sz="1300" b="1" i="0">
              <a:solidFill>
                <a:srgbClr val="6E90A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1371600" cy="13716"/>
          </a:xfrm>
          <a:prstGeom prst="rect">
            <a:avLst/>
          </a:prstGeom>
          <a:solidFill>
            <a:srgbClr val="6E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24688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跃迁坐标的配置关系，离散的坐标格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28803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2468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A4C93"/>
                </a:solidFill>
                <a:latin typeface="Calibri" panose="020F0502020204030204"/>
                <a:ea typeface="微软雅黑" panose="020B0503020204020204" charset="-122"/>
              </a:rPr>
              <a:t>(v) 最小作用量子</a:t>
            </a:r>
            <a:endParaRPr sz="1300" b="1" i="0">
              <a:solidFill>
                <a:srgbClr val="6A4C93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46120"/>
            <a:ext cx="1371600" cy="1371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37560"/>
            <a:ext cx="24688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波性侧累积达到阈值时触发临界事件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5760" y="461772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016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3716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核心洞见</a:t>
            </a:r>
            <a:endParaRPr sz="11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77724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时空不是单一的先验舞台，而是波粒二象在存在论层面的直接映射。元与象、连续与离散，时空本身是二象的。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04 定理二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物理标度定理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12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3A7CBD"/>
                </a:solidFill>
                <a:latin typeface="Georgia" panose="02040502050405020303"/>
                <a:ea typeface="微软雅黑" panose="020B0503020204020204" charset="-122"/>
              </a:rPr>
              <a:t>h</a:t>
            </a:r>
            <a:endParaRPr sz="3200" b="1" i="0">
              <a:solidFill>
                <a:srgbClr val="3A7CBD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6517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普朗克常数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920240" cy="13716"/>
          </a:xfrm>
          <a:prstGeom prst="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元相子物侧旋转的
作用量标度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E = hw</a:t>
            </a:r>
            <a:endParaRPr sz="1200" b="0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91840" y="1143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C99E62"/>
                </a:solidFill>
                <a:latin typeface="Georgia" panose="02040502050405020303"/>
                <a:ea typeface="微软雅黑" panose="020B0503020204020204" charset="-122"/>
              </a:rPr>
              <a:t>c</a:t>
            </a:r>
            <a:endParaRPr sz="3200" b="1" i="0">
              <a:solidFill>
                <a:srgbClr val="C99E62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26517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光速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0" y="2057400"/>
            <a:ext cx="1920240" cy="1371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19456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波性侧连续演化与粒性侧
离散跃迁的转译常数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c = lP/tP</a:t>
            </a:r>
            <a:endParaRPr sz="1200" b="0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1143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009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09FBD"/>
                </a:solidFill>
                <a:latin typeface="Georgia" panose="02040502050405020303"/>
                <a:ea typeface="微软雅黑" panose="020B0503020204020204" charset="-122"/>
              </a:rPr>
              <a:t>G</a:t>
            </a:r>
            <a:endParaRPr sz="3200" b="1" i="0">
              <a:solidFill>
                <a:srgbClr val="009FBD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517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引力常数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0" y="2057400"/>
            <a:ext cx="1920240" cy="13716"/>
          </a:xfrm>
          <a:prstGeom prst="rect">
            <a:avLst/>
          </a:prstGeom>
          <a:solidFill>
            <a:srgbClr val="009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物理时空的生成刚度
决定时空像素被压弯的难易程度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88036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09FBD"/>
                </a:solidFill>
                <a:latin typeface="Consolas" panose="020B0609020204030204"/>
                <a:ea typeface="微软雅黑" panose="020B0503020204020204" charset="-122"/>
              </a:rPr>
              <a:t>lP = sqrt(hG/c^3)</a:t>
            </a:r>
            <a:endParaRPr sz="1200" b="0" i="0">
              <a:solidFill>
                <a:srgbClr val="009F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5760" y="37033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3F7FB"/>
          </a:solidFill>
          <a:ln w="127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13716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A7CBD"/>
                </a:solidFill>
                <a:latin typeface="Consolas" panose="020B0609020204030204"/>
                <a:ea typeface="微软雅黑" panose="020B0503020204020204" charset="-122"/>
              </a:rPr>
              <a:t>革命性结论</a:t>
            </a:r>
            <a:endParaRPr sz="1100" b="1" i="0">
              <a:solidFill>
                <a:srgbClr val="3A7CBD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3977639"/>
            <a:ext cx="77724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引力本来就是量子的。G 参与物理时空量子（像素）的生成，它是量子时空的内在属性。量子性（h）和引力（G）在普朗克尺度是同一个物理实在——时空像素的两个不可分割的侧面。引力不需要被量子化，因为它从一开始就是量子的。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总结</a:t>
            </a:r>
            <a:endParaRPr sz="1100" b="0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结论：一公理二定理的完整体系</a:t>
            </a:r>
            <a:endParaRPr sz="24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天行力学公理体系</a:t>
            </a:r>
            <a:endParaRPr sz="800" b="0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alibri" panose="020F0502020204030204"/>
                <a:ea typeface="微软雅黑" panose="020B0503020204020204" charset="-122"/>
              </a:rPr>
              <a:t>13</a:t>
            </a:r>
            <a:endParaRPr sz="900" b="1" i="0">
              <a:solidFill>
                <a:srgbClr val="5A647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9411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19"/>
            <a:ext cx="8046719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▌公理</a:t>
            </a:r>
            <a:endParaRPr sz="14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</a:rPr>
              <a:t>心物波粒二象及其五重法则</a:t>
            </a:r>
            <a:endParaRPr sz="1700" b="1" i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ABBCC"/>
                </a:solidFill>
                <a:latin typeface="Calibri" panose="020F0502020204030204"/>
                <a:ea typeface="微软雅黑" panose="020B0503020204020204" charset="-122"/>
              </a:rPr>
              <a:t>形而上最高本原 · 最原初的心、物和理的统一体 · 万物的规定者</a:t>
            </a:r>
            <a:endParaRPr sz="1200" b="0" i="0">
              <a:solidFill>
                <a:srgbClr val="AABBCC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8229600" cy="594360"/>
          </a:xfrm>
          <a:prstGeom prst="roundRect">
            <a:avLst>
              <a:gd name="adj" fmla="val 12307"/>
            </a:avLst>
          </a:prstGeom>
          <a:solidFill>
            <a:srgbClr val="EFF4F9"/>
          </a:solidFill>
          <a:ln w="12700">
            <a:solidFill>
              <a:srgbClr val="3A7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7CBD"/>
                </a:solidFill>
                <a:latin typeface="Calibri" panose="020F0502020204030204"/>
                <a:ea typeface="微软雅黑" panose="020B0503020204020204" charset="-122"/>
              </a:rPr>
              <a:t>定理一：时空二象性定理</a:t>
            </a:r>
            <a:endParaRPr sz="1400" b="1" i="0">
              <a:solidFill>
                <a:srgbClr val="3A7CB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572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数学时间 · 数学空间 · 物理时间 · 物理空间 + 最小作用量子的存在性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2880360"/>
            <a:ext cx="8229600" cy="594360"/>
          </a:xfrm>
          <a:prstGeom prst="roundRect">
            <a:avLst>
              <a:gd name="adj" fmla="val 12307"/>
            </a:avLst>
          </a:prstGeom>
          <a:solidFill>
            <a:srgbClr val="FAF7F2"/>
          </a:solidFill>
          <a:ln w="12700">
            <a:solidFill>
              <a:srgbClr val="C9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9E62"/>
                </a:solidFill>
                <a:latin typeface="Calibri" panose="020F0502020204030204"/>
                <a:ea typeface="微软雅黑" panose="020B0503020204020204" charset="-122"/>
              </a:rPr>
              <a:t>定理二：物理标度定理</a:t>
            </a:r>
            <a:endParaRPr sz="1400" b="1" i="0">
              <a:solidFill>
                <a:srgbClr val="C99E62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4572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h  作用量标度  |  c  时空投影比率  |  G  时空生成刚度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37160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99E62"/>
                </a:solidFill>
                <a:latin typeface="Consolas" panose="020B0609020204030204"/>
                <a:ea typeface="微软雅黑" panose="020B0503020204020204" charset="-122"/>
              </a:rPr>
              <a:t>理论意义</a:t>
            </a:r>
            <a:endParaRPr sz="1100" b="1" i="0">
              <a:solidFill>
                <a:srgbClr val="C99E62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7772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Calibri" panose="020F0502020204030204"/>
                <a:ea typeface="微软雅黑" panose="020B0503020204020204" charset="-122"/>
              </a:rPr>
              <a:t>从宇宙的兴衰命运到量子力学的运动方程，从意识相位整合到历史周期律的数学根源，最终都立足于一个单一的、不可再化约的最高本原及其心物合一的承载者之上。</a:t>
            </a:r>
            <a:endParaRPr sz="1100" b="0" i="0">
              <a:solidFill>
                <a:srgbClr val="2C3E5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8412480" cy="13716"/>
          </a:xfrm>
          <a:prstGeom prst="rect">
            <a:avLst/>
          </a:prstGeom>
          <a:solidFill>
            <a:srgbClr val="C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 panose="020F0502020204030204"/>
                <a:ea typeface="微软雅黑" panose="020B0503020204020204" charset="-122"/>
              </a:rPr>
              <a:t>天行力学在逻辑经济性上达到了物理学史上最精简的行列</a:t>
            </a:r>
            <a:endParaRPr sz="1400" b="1" i="0">
              <a:solidFill>
                <a:srgbClr val="1B2A4A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1927</Words>
  <Application>WPS 演示</Application>
  <PresentationFormat>On-screen Show (4:3)</PresentationFormat>
  <Paragraphs>323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Georgia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Administrator</cp:lastModifiedBy>
  <cp:revision>2</cp:revision>
  <dcterms:created xsi:type="dcterms:W3CDTF">2013-01-27T09:14:00Z</dcterms:created>
  <dcterms:modified xsi:type="dcterms:W3CDTF">2026-07-19T15:45:24Z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2052-11.1.0.9021</vt:lpwstr>
  </property>
</Properties>
</file>